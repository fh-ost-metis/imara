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8.10391" TargetMode="External"/><Relationship Id="rId2" Type="http://schemas.openxmlformats.org/officeDocument/2006/relationships/hyperlink" Target="https://arxiv.org/abs/2501.1788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arxiv.org/abs/2510.09580" TargetMode="External"/><Relationship Id="rId4" Type="http://schemas.openxmlformats.org/officeDocument/2006/relationships/hyperlink" Target="https://arxiv.org/abs/2504.05478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9E577-ED2A-B5AA-181F-33034DF222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ML4SE-Projekt</a:t>
            </a:r>
            <a:br>
              <a:rPr lang="de-CH" dirty="0"/>
            </a:br>
            <a:br>
              <a:rPr lang="de-CH" dirty="0"/>
            </a:br>
            <a:r>
              <a:rPr lang="de-CH" dirty="0"/>
              <a:t>Domain </a:t>
            </a:r>
            <a:r>
              <a:rPr lang="de-CH" dirty="0" err="1"/>
              <a:t>specific</a:t>
            </a:r>
            <a:r>
              <a:rPr lang="de-CH" dirty="0"/>
              <a:t> </a:t>
            </a:r>
            <a:r>
              <a:rPr lang="de-CH" dirty="0" err="1"/>
              <a:t>GraphRAG</a:t>
            </a:r>
            <a:r>
              <a:rPr lang="de-CH" dirty="0"/>
              <a:t> </a:t>
            </a:r>
            <a:r>
              <a:rPr lang="de-CH" dirty="0" err="1"/>
              <a:t>pipeline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MODEL </a:t>
            </a:r>
            <a:r>
              <a:rPr lang="de-CH" dirty="0" err="1"/>
              <a:t>fine</a:t>
            </a:r>
            <a:r>
              <a:rPr lang="de-CH" dirty="0"/>
              <a:t>-tuning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5F3482-FBF4-7780-F824-F68CCB21CA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Marco Allenspach, Lukas Koller, Emanuel </a:t>
            </a:r>
            <a:r>
              <a:rPr lang="de-CH" dirty="0" err="1"/>
              <a:t>Sovrano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56075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33658-022D-D003-A179-3BC0187E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7EE689-613F-4AD6-FCFE-A65AEDAAC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Was soll erreicht werden?</a:t>
            </a:r>
          </a:p>
          <a:p>
            <a:pPr lvl="0"/>
            <a:r>
              <a:rPr lang="de-CH" dirty="0"/>
              <a:t>Graph-basiertes RAG </a:t>
            </a:r>
          </a:p>
          <a:p>
            <a:pPr lvl="0"/>
            <a:r>
              <a:rPr lang="de-CH" dirty="0"/>
              <a:t>Model Finetuning</a:t>
            </a:r>
          </a:p>
          <a:p>
            <a:r>
              <a:rPr lang="de-CH" dirty="0"/>
              <a:t>Automation</a:t>
            </a:r>
          </a:p>
        </p:txBody>
      </p:sp>
    </p:spTree>
    <p:extLst>
      <p:ext uri="{BB962C8B-B14F-4D97-AF65-F5344CB8AC3E}">
        <p14:creationId xmlns:p14="http://schemas.microsoft.com/office/powerpoint/2010/main" val="249768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859DE8-0CC0-3E78-5046-1FD68648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Beschreibung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258F42-0118-EB25-82DC-8507A214A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67840"/>
            <a:ext cx="9905999" cy="483928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e-CH" sz="3200" dirty="0"/>
              <a:t>Die drei Schwerpunkte des Projekts sind die komplette Extraktion der Inhalte aus ca. 50 PDFs, die Erstellung eines dichten Graphs und das </a:t>
            </a:r>
            <a:r>
              <a:rPr lang="de-CH" sz="3200" dirty="0" err="1"/>
              <a:t>fintuning</a:t>
            </a:r>
            <a:r>
              <a:rPr lang="de-CH" sz="3200" dirty="0"/>
              <a:t> anhand des Graphs resp. Des </a:t>
            </a:r>
            <a:r>
              <a:rPr lang="de-CH" sz="3200" dirty="0" err="1"/>
              <a:t>graphbasierten</a:t>
            </a:r>
            <a:r>
              <a:rPr lang="de-CH" sz="3200" dirty="0"/>
              <a:t> RAGs.</a:t>
            </a:r>
          </a:p>
          <a:p>
            <a:r>
              <a:rPr lang="de-CH" sz="3200" dirty="0" err="1"/>
              <a:t>Docling</a:t>
            </a:r>
            <a:br>
              <a:rPr lang="de-CH" sz="3200" dirty="0"/>
            </a:br>
            <a:r>
              <a:rPr lang="de-CH" sz="3200" dirty="0">
                <a:hlinkClick r:id="rId2"/>
              </a:rPr>
              <a:t>[2501.17887] </a:t>
            </a:r>
            <a:r>
              <a:rPr lang="de-CH" sz="3200" dirty="0" err="1">
                <a:hlinkClick r:id="rId2"/>
              </a:rPr>
              <a:t>Docling</a:t>
            </a:r>
            <a:r>
              <a:rPr lang="de-CH" sz="3200" dirty="0">
                <a:hlinkClick r:id="rId2"/>
              </a:rPr>
              <a:t>: An </a:t>
            </a:r>
            <a:r>
              <a:rPr lang="de-CH" sz="3200" dirty="0" err="1">
                <a:hlinkClick r:id="rId2"/>
              </a:rPr>
              <a:t>Efficient</a:t>
            </a:r>
            <a:r>
              <a:rPr lang="de-CH" sz="3200" dirty="0">
                <a:hlinkClick r:id="rId2"/>
              </a:rPr>
              <a:t> Open-Source </a:t>
            </a:r>
            <a:br>
              <a:rPr lang="de-CH" sz="3200" dirty="0">
                <a:hlinkClick r:id="rId2"/>
              </a:rPr>
            </a:br>
            <a:r>
              <a:rPr lang="de-CH" sz="3200" dirty="0">
                <a:hlinkClick r:id="rId2"/>
              </a:rPr>
              <a:t>Toolkit </a:t>
            </a:r>
            <a:r>
              <a:rPr lang="de-CH" sz="3200" dirty="0" err="1">
                <a:hlinkClick r:id="rId2"/>
              </a:rPr>
              <a:t>for</a:t>
            </a:r>
            <a:r>
              <a:rPr lang="de-CH" sz="3200" dirty="0">
                <a:hlinkClick r:id="rId2"/>
              </a:rPr>
              <a:t> AI-</a:t>
            </a:r>
            <a:r>
              <a:rPr lang="de-CH" sz="3200" dirty="0" err="1">
                <a:hlinkClick r:id="rId2"/>
              </a:rPr>
              <a:t>driven</a:t>
            </a:r>
            <a:r>
              <a:rPr lang="de-CH" sz="3200" dirty="0">
                <a:hlinkClick r:id="rId2"/>
              </a:rPr>
              <a:t> </a:t>
            </a:r>
            <a:r>
              <a:rPr lang="de-CH" sz="3200" dirty="0" err="1">
                <a:hlinkClick r:id="rId2"/>
              </a:rPr>
              <a:t>Document</a:t>
            </a:r>
            <a:r>
              <a:rPr lang="de-CH" sz="3200" dirty="0">
                <a:hlinkClick r:id="rId2"/>
              </a:rPr>
              <a:t> </a:t>
            </a:r>
            <a:r>
              <a:rPr lang="de-CH" sz="3200" dirty="0" err="1">
                <a:hlinkClick r:id="rId2"/>
              </a:rPr>
              <a:t>Conversion</a:t>
            </a:r>
            <a:endParaRPr lang="de-CH" sz="3200" dirty="0"/>
          </a:p>
          <a:p>
            <a:r>
              <a:rPr lang="de-CH" sz="3200" dirty="0" err="1"/>
              <a:t>LeanRAG</a:t>
            </a:r>
            <a:r>
              <a:rPr lang="de-CH" sz="3200" dirty="0"/>
              <a:t> (mit Graph) </a:t>
            </a:r>
            <a:br>
              <a:rPr lang="de-CH" sz="3200" dirty="0"/>
            </a:br>
            <a:r>
              <a:rPr lang="en-US" sz="3200" dirty="0">
                <a:hlinkClick r:id="rId3"/>
              </a:rPr>
              <a:t>[2508.10391] </a:t>
            </a:r>
            <a:r>
              <a:rPr lang="en-US" sz="3200" dirty="0" err="1">
                <a:hlinkClick r:id="rId3"/>
              </a:rPr>
              <a:t>LeanRAG</a:t>
            </a:r>
            <a:r>
              <a:rPr lang="en-US" sz="3200" dirty="0">
                <a:hlinkClick r:id="rId3"/>
              </a:rPr>
              <a:t>: Knowledge-Graph-Based Generation </a:t>
            </a:r>
            <a:br>
              <a:rPr lang="en-US" sz="3200" dirty="0">
                <a:hlinkClick r:id="rId3"/>
              </a:rPr>
            </a:br>
            <a:r>
              <a:rPr lang="en-US" sz="3200" dirty="0">
                <a:hlinkClick r:id="rId3"/>
              </a:rPr>
              <a:t>with Semantic Aggregation and Hierarchical Retrieval</a:t>
            </a:r>
            <a:endParaRPr lang="de-CH" sz="3200" dirty="0"/>
          </a:p>
          <a:p>
            <a:endParaRPr lang="de-CH" sz="3200" dirty="0"/>
          </a:p>
          <a:p>
            <a:r>
              <a:rPr lang="de-CH" sz="3200" dirty="0"/>
              <a:t>0SS20b </a:t>
            </a:r>
            <a:r>
              <a:rPr lang="de-CH" sz="3200" dirty="0" err="1"/>
              <a:t>finetuning</a:t>
            </a:r>
            <a:r>
              <a:rPr lang="de-CH" sz="3200" dirty="0"/>
              <a:t> von OpenAI oder mit z.B. ein kleines </a:t>
            </a:r>
            <a:r>
              <a:rPr lang="de-CH" sz="3200" dirty="0" err="1"/>
              <a:t>Qwen</a:t>
            </a:r>
            <a:r>
              <a:rPr lang="de-CH" sz="3200" dirty="0"/>
              <a:t>-Model mit einem etablierten Framework.</a:t>
            </a:r>
            <a:br>
              <a:rPr lang="de-CH" sz="3200" dirty="0"/>
            </a:br>
            <a:r>
              <a:rPr lang="en-US" sz="3200" dirty="0">
                <a:hlinkClick r:id="rId4"/>
              </a:rPr>
              <a:t>[2504.05478] </a:t>
            </a:r>
            <a:r>
              <a:rPr lang="en-US" sz="3200" dirty="0" err="1">
                <a:hlinkClick r:id="rId4"/>
              </a:rPr>
              <a:t>GraphRAFT</a:t>
            </a:r>
            <a:r>
              <a:rPr lang="en-US" sz="3200" dirty="0">
                <a:hlinkClick r:id="rId4"/>
              </a:rPr>
              <a:t>: Retrieval Augmented Fine-Tuning for Knowledge Graphs on Graph Databases</a:t>
            </a:r>
            <a:endParaRPr lang="de-CH" sz="3200" dirty="0"/>
          </a:p>
          <a:p>
            <a:pPr marL="0" indent="0">
              <a:buNone/>
            </a:pPr>
            <a:endParaRPr lang="en-US" sz="3200" u="sng" dirty="0">
              <a:hlinkClick r:id="rId5" tooltip="https://arxiv.org/abs/2510.09580"/>
            </a:endParaRPr>
          </a:p>
          <a:p>
            <a:pPr marL="0" indent="0">
              <a:buNone/>
            </a:pPr>
            <a:br>
              <a:rPr lang="en-US" sz="3200" u="sng" dirty="0">
                <a:hlinkClick r:id="rId5" tooltip="https://arxiv.org/abs/2510.09580"/>
              </a:rPr>
            </a:br>
            <a:r>
              <a:rPr lang="en-US" u="sng" dirty="0">
                <a:hlinkClick r:id="rId5" tooltip="https://arxiv.org/abs/2510.09580"/>
              </a:rPr>
              <a:t>[2510.09580] </a:t>
            </a:r>
            <a:r>
              <a:rPr lang="en-US" u="sng" dirty="0" err="1">
                <a:hlinkClick r:id="rId5" tooltip="https://arxiv.org/abs/2510.09580"/>
              </a:rPr>
              <a:t>GraphMERT</a:t>
            </a:r>
            <a:r>
              <a:rPr lang="en-US" u="sng" dirty="0">
                <a:hlinkClick r:id="rId5" tooltip="https://arxiv.org/abs/2510.09580"/>
              </a:rPr>
              <a:t>: Efficient and Scalable Distillation of Reliable Knowledge Graphs from Unstructured Data</a:t>
            </a:r>
            <a:endParaRPr lang="de-CH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de-CH" dirty="0"/>
              <a:t>Die vielversprechenden Ergebnisse von </a:t>
            </a:r>
            <a:r>
              <a:rPr lang="de-CH" dirty="0" err="1"/>
              <a:t>GraphMERT</a:t>
            </a:r>
            <a:r>
              <a:rPr lang="de-CH" dirty="0"/>
              <a:t> unterstreichen den </a:t>
            </a:r>
            <a:r>
              <a:rPr lang="de-CH" dirty="0" err="1"/>
              <a:t>Graphbasierten</a:t>
            </a:r>
            <a:r>
              <a:rPr lang="de-CH" dirty="0"/>
              <a:t> Ansatz, wo ein 80m domänenspezifisch Model ein GPT5 übertreffen kann.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1990147-90FF-BAB0-F67D-0F2215E72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1135" y="2189825"/>
            <a:ext cx="4691529" cy="170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4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4DC12-CB50-BC43-C6C2-7508C1F2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E8111-83C9-F3D4-785B-21400326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BENCHMARKING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BBE212-B554-9851-A852-BB792D084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dirty="0"/>
              <a:t>Ansatz 1</a:t>
            </a:r>
          </a:p>
          <a:p>
            <a:pPr marL="0" indent="0">
              <a:buNone/>
            </a:pPr>
            <a:r>
              <a:rPr lang="de-CH" dirty="0"/>
              <a:t>Mit SDG einen Testdatensatz generieren und mit einem LLM als Judge testen.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dirty="0"/>
              <a:t>Ansatz 2</a:t>
            </a:r>
          </a:p>
          <a:p>
            <a:pPr marL="0" indent="0">
              <a:buNone/>
            </a:pPr>
            <a:r>
              <a:rPr lang="de-CH" dirty="0"/>
              <a:t>Publizierte Benchmarks suchen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0178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B5B0B-ABC6-3BDF-A1CB-95BA95E9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Rahmenbedingungen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35489D-B084-DE6E-BC1E-51721D49D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CH" dirty="0"/>
              <a:t>Sämtliche </a:t>
            </a:r>
            <a:r>
              <a:rPr lang="de-CH" dirty="0" err="1"/>
              <a:t>Scope</a:t>
            </a:r>
            <a:r>
              <a:rPr lang="de-CH" dirty="0"/>
              <a:t> Limitierungen (Hardware, etc.)</a:t>
            </a:r>
          </a:p>
          <a:p>
            <a:pPr lvl="0"/>
            <a:r>
              <a:rPr lang="de-CH" dirty="0"/>
              <a:t>GPUs</a:t>
            </a:r>
          </a:p>
          <a:p>
            <a:r>
              <a:rPr lang="de-CH" dirty="0"/>
              <a:t>1x 4090er mobile</a:t>
            </a:r>
          </a:p>
          <a:p>
            <a:r>
              <a:rPr lang="de-CH" dirty="0"/>
              <a:t>1x M3pro 24GB </a:t>
            </a:r>
            <a:r>
              <a:rPr lang="de-CH" dirty="0" err="1"/>
              <a:t>shared</a:t>
            </a:r>
            <a:endParaRPr lang="de-CH" dirty="0"/>
          </a:p>
          <a:p>
            <a:r>
              <a:rPr lang="de-CH" dirty="0"/>
              <a:t>1x 4090er Desktop</a:t>
            </a:r>
          </a:p>
          <a:p>
            <a:r>
              <a:rPr lang="de-CH" dirty="0"/>
              <a:t>1x 5060TI Desktop</a:t>
            </a:r>
          </a:p>
          <a:p>
            <a:pPr lvl="0"/>
            <a:r>
              <a:rPr lang="de-CH" dirty="0"/>
              <a:t>Backup: Online Provider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40922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05B574-2AC8-9C30-B30B-06C365AA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Datenquelle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F7CB8-6FAE-5B7D-3B69-E384E12AF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Frei verfügbare Datensätze aus verschiedenen Domains. Z.B. </a:t>
            </a:r>
            <a:r>
              <a:rPr lang="de-CH" dirty="0" err="1"/>
              <a:t>arxive</a:t>
            </a:r>
            <a:r>
              <a:rPr lang="de-CH" dirty="0"/>
              <a:t>,</a:t>
            </a:r>
          </a:p>
          <a:p>
            <a:endParaRPr lang="de-CH" dirty="0"/>
          </a:p>
          <a:p>
            <a:r>
              <a:rPr lang="de-CH" dirty="0"/>
              <a:t>nicht </a:t>
            </a:r>
            <a:r>
              <a:rPr lang="de-CH" dirty="0" err="1"/>
              <a:t>Sci</a:t>
            </a:r>
            <a:r>
              <a:rPr lang="de-CH"/>
              <a:t>-Hub </a:t>
            </a:r>
            <a:r>
              <a:rPr lang="de-CH" dirty="0"/>
              <a:t>die Rechtslage ist kontrovers </a:t>
            </a:r>
          </a:p>
        </p:txBody>
      </p:sp>
    </p:spTree>
    <p:extLst>
      <p:ext uri="{BB962C8B-B14F-4D97-AF65-F5344CB8AC3E}">
        <p14:creationId xmlns:p14="http://schemas.microsoft.com/office/powerpoint/2010/main" val="1129364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5FC49B-2B0D-B499-8733-C1F84C37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Risiken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6D7E11-FBEC-7325-C927-0571A72FD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Sämtliche Risiken &amp; Optimierungsstrategien</a:t>
            </a:r>
          </a:p>
          <a:p>
            <a:pPr lvl="0"/>
            <a:r>
              <a:rPr lang="de-CH" dirty="0"/>
              <a:t>Die resultierenden Graphen haben nicht die ausreichende Qualität um einen Unterschied zu machen</a:t>
            </a:r>
          </a:p>
          <a:p>
            <a:pPr lvl="0"/>
            <a:r>
              <a:rPr lang="de-CH" dirty="0"/>
              <a:t>Das Finetuning ist zu Ressourcenintensiv</a:t>
            </a:r>
          </a:p>
          <a:p>
            <a:pPr lvl="0"/>
            <a:r>
              <a:rPr lang="de-CH" dirty="0"/>
              <a:t>Koordination im Dreier-Team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341206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265</Words>
  <Application>Microsoft Office PowerPoint</Application>
  <PresentationFormat>Breitbild</PresentationFormat>
  <Paragraphs>39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Tw Cen MT</vt:lpstr>
      <vt:lpstr>Schaltkreis</vt:lpstr>
      <vt:lpstr>ML4SE-Projekt  Domain specific GraphRAG pipeline with MODEL fine-tuning</vt:lpstr>
      <vt:lpstr>Ziel</vt:lpstr>
      <vt:lpstr>Beschreibung</vt:lpstr>
      <vt:lpstr>BENCHMARKING</vt:lpstr>
      <vt:lpstr>Rahmenbedingungen</vt:lpstr>
      <vt:lpstr>Datenquelle</vt:lpstr>
      <vt:lpstr>Risiken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Allenspach</dc:creator>
  <cp:lastModifiedBy>Marco Allenspach</cp:lastModifiedBy>
  <cp:revision>11</cp:revision>
  <dcterms:created xsi:type="dcterms:W3CDTF">2025-10-21T17:09:41Z</dcterms:created>
  <dcterms:modified xsi:type="dcterms:W3CDTF">2025-10-21T18:43:50Z</dcterms:modified>
</cp:coreProperties>
</file>