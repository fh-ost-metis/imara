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0"/>
  </p:normalViewPr>
  <p:slideViewPr>
    <p:cSldViewPr snapToGrid="0">
      <p:cViewPr varScale="1">
        <p:scale>
          <a:sx n="83" d="100"/>
          <a:sy n="83" d="100"/>
        </p:scale>
        <p:origin x="75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9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80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1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9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2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0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8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8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4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4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9EBE4E-5983-B393-1D5E-73135106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phäre aus Gitter und Knoten">
            <a:extLst>
              <a:ext uri="{FF2B5EF4-FFF2-40B4-BE49-F238E27FC236}">
                <a16:creationId xmlns:a16="http://schemas.microsoft.com/office/drawing/2014/main" id="{EAC8CF88-621C-858E-57B2-50F81E3FC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7" b="22323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EF5482-568A-9463-C672-BC6D644D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9511" y="-72076"/>
            <a:ext cx="8582352" cy="4875036"/>
          </a:xfrm>
          <a:custGeom>
            <a:avLst/>
            <a:gdLst>
              <a:gd name="connsiteX0" fmla="*/ 1259133 w 8582352"/>
              <a:gd name="connsiteY0" fmla="*/ 1707 h 4875036"/>
              <a:gd name="connsiteX1" fmla="*/ 29139 w 8582352"/>
              <a:gd name="connsiteY1" fmla="*/ 317762 h 4875036"/>
              <a:gd name="connsiteX2" fmla="*/ 0 w 8582352"/>
              <a:gd name="connsiteY2" fmla="*/ 333585 h 4875036"/>
              <a:gd name="connsiteX3" fmla="*/ 79271 w 8582352"/>
              <a:gd name="connsiteY3" fmla="*/ 4875036 h 4875036"/>
              <a:gd name="connsiteX4" fmla="*/ 8582352 w 8582352"/>
              <a:gd name="connsiteY4" fmla="*/ 4726614 h 4875036"/>
              <a:gd name="connsiteX5" fmla="*/ 3064323 w 8582352"/>
              <a:gd name="connsiteY5" fmla="*/ 550287 h 4875036"/>
              <a:gd name="connsiteX6" fmla="*/ 3002736 w 8582352"/>
              <a:gd name="connsiteY6" fmla="*/ 506058 h 4875036"/>
              <a:gd name="connsiteX7" fmla="*/ 1429589 w 8582352"/>
              <a:gd name="connsiteY7" fmla="*/ 840 h 4875036"/>
              <a:gd name="connsiteX8" fmla="*/ 1259133 w 8582352"/>
              <a:gd name="connsiteY8" fmla="*/ 1707 h 4875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2352" h="4875036">
                <a:moveTo>
                  <a:pt x="1259133" y="1707"/>
                </a:moveTo>
                <a:cubicBezTo>
                  <a:pt x="833461" y="16212"/>
                  <a:pt x="412733" y="123046"/>
                  <a:pt x="29139" y="317762"/>
                </a:cubicBezTo>
                <a:lnTo>
                  <a:pt x="0" y="333585"/>
                </a:lnTo>
                <a:lnTo>
                  <a:pt x="79271" y="4875036"/>
                </a:lnTo>
                <a:lnTo>
                  <a:pt x="8582352" y="4726614"/>
                </a:lnTo>
                <a:lnTo>
                  <a:pt x="3064323" y="550287"/>
                </a:lnTo>
                <a:lnTo>
                  <a:pt x="3002736" y="506058"/>
                </a:lnTo>
                <a:cubicBezTo>
                  <a:pt x="2522288" y="179187"/>
                  <a:pt x="1975404" y="13891"/>
                  <a:pt x="1429589" y="840"/>
                </a:cubicBezTo>
                <a:cubicBezTo>
                  <a:pt x="1372734" y="-519"/>
                  <a:pt x="1315889" y="-227"/>
                  <a:pt x="1259133" y="1707"/>
                </a:cubicBez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6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4ABC64-5BEB-2030-C425-2E85FBFB4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142" y="691723"/>
            <a:ext cx="4241299" cy="1819658"/>
          </a:xfrm>
        </p:spPr>
        <p:txBody>
          <a:bodyPr>
            <a:normAutofit/>
          </a:bodyPr>
          <a:lstStyle/>
          <a:p>
            <a:r>
              <a:rPr lang="de-CH" dirty="0"/>
              <a:t>TBD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5DB83F-0797-88AF-82E5-BEAD8582F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144" y="2555544"/>
            <a:ext cx="3349214" cy="896819"/>
          </a:xfrm>
        </p:spPr>
        <p:txBody>
          <a:bodyPr>
            <a:normAutofit/>
          </a:bodyPr>
          <a:lstStyle/>
          <a:p>
            <a:r>
              <a:rPr lang="de-CH" dirty="0"/>
              <a:t>ML4SE Abschlussarbeit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38784C3-11AE-0BE2-6339-1A2BDAC7F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 flipV="1">
            <a:off x="7888979" y="5014859"/>
            <a:ext cx="4324338" cy="1889417"/>
          </a:xfrm>
          <a:custGeom>
            <a:avLst/>
            <a:gdLst>
              <a:gd name="connsiteX0" fmla="*/ 26412 w 4324338"/>
              <a:gd name="connsiteY0" fmla="*/ 1889417 h 1889417"/>
              <a:gd name="connsiteX1" fmla="*/ 4324338 w 4324338"/>
              <a:gd name="connsiteY1" fmla="*/ 1814397 h 1889417"/>
              <a:gd name="connsiteX2" fmla="*/ 2459858 w 4324338"/>
              <a:gd name="connsiteY2" fmla="*/ 403264 h 1889417"/>
              <a:gd name="connsiteX3" fmla="*/ 2414726 w 4324338"/>
              <a:gd name="connsiteY3" fmla="*/ 370852 h 1889417"/>
              <a:gd name="connsiteX4" fmla="*/ 1261883 w 4324338"/>
              <a:gd name="connsiteY4" fmla="*/ 615 h 1889417"/>
              <a:gd name="connsiteX5" fmla="*/ 70385 w 4324338"/>
              <a:gd name="connsiteY5" fmla="*/ 326182 h 1889417"/>
              <a:gd name="connsiteX6" fmla="*/ 0 w 4324338"/>
              <a:gd name="connsiteY6" fmla="*/ 376291 h 188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4338" h="1889417">
                <a:moveTo>
                  <a:pt x="26412" y="1889417"/>
                </a:moveTo>
                <a:lnTo>
                  <a:pt x="4324338" y="1814397"/>
                </a:lnTo>
                <a:lnTo>
                  <a:pt x="2459858" y="403264"/>
                </a:lnTo>
                <a:lnTo>
                  <a:pt x="2414726" y="370852"/>
                </a:lnTo>
                <a:cubicBezTo>
                  <a:pt x="2062641" y="131313"/>
                  <a:pt x="1661870" y="10180"/>
                  <a:pt x="1261883" y="615"/>
                </a:cubicBezTo>
                <a:cubicBezTo>
                  <a:pt x="845229" y="-9347"/>
                  <a:pt x="429425" y="101751"/>
                  <a:pt x="70385" y="326182"/>
                </a:cubicBezTo>
                <a:lnTo>
                  <a:pt x="0" y="376291"/>
                </a:lnTo>
                <a:close/>
              </a:path>
            </a:pathLst>
          </a:custGeom>
          <a:gradFill>
            <a:gsLst>
              <a:gs pos="27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92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4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08B09-9C04-0AA9-7EC3-F1990CCD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Funktionale Elemente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792DA4-0D6E-5501-23BB-EE26DDCC9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CH" sz="16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56F36C7-C665-67E6-24EB-ED09B8975B09}"/>
              </a:ext>
            </a:extLst>
          </p:cNvPr>
          <p:cNvSpPr/>
          <p:nvPr/>
        </p:nvSpPr>
        <p:spPr>
          <a:xfrm>
            <a:off x="358238" y="3152335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Collection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E1E7452-8285-C0F9-E374-5AEB525B38E6}"/>
              </a:ext>
            </a:extLst>
          </p:cNvPr>
          <p:cNvSpPr/>
          <p:nvPr/>
        </p:nvSpPr>
        <p:spPr>
          <a:xfrm>
            <a:off x="1873514" y="3854770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 err="1"/>
              <a:t>ColleocumDocument</a:t>
            </a:r>
            <a:r>
              <a:rPr lang="de-CH" sz="1600" dirty="0"/>
              <a:t> </a:t>
            </a:r>
            <a:r>
              <a:rPr lang="de-CH" sz="1600" dirty="0" err="1"/>
              <a:t>Processingction</a:t>
            </a:r>
            <a:endParaRPr lang="de-CH" sz="16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F44AA17-1CAF-BBAB-7FF1-194C4D521056}"/>
              </a:ext>
            </a:extLst>
          </p:cNvPr>
          <p:cNvSpPr/>
          <p:nvPr/>
        </p:nvSpPr>
        <p:spPr>
          <a:xfrm>
            <a:off x="350923" y="4568012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 err="1"/>
              <a:t>Scraper</a:t>
            </a:r>
            <a:endParaRPr lang="de-CH" sz="16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F04144-7632-5B58-6E58-7D3809654423}"/>
              </a:ext>
            </a:extLst>
          </p:cNvPr>
          <p:cNvSpPr/>
          <p:nvPr/>
        </p:nvSpPr>
        <p:spPr>
          <a:xfrm>
            <a:off x="3455187" y="2786380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SDG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FB2037-A607-2A8C-DEEC-D309D9540698}"/>
              </a:ext>
            </a:extLst>
          </p:cNvPr>
          <p:cNvSpPr/>
          <p:nvPr/>
        </p:nvSpPr>
        <p:spPr>
          <a:xfrm>
            <a:off x="3497016" y="4974878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Graph Generation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2511E07-4991-600C-FAAA-53D1580D4D0C}"/>
              </a:ext>
            </a:extLst>
          </p:cNvPr>
          <p:cNvSpPr/>
          <p:nvPr/>
        </p:nvSpPr>
        <p:spPr>
          <a:xfrm>
            <a:off x="3453631" y="3524934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RAG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989BDFC-C0AD-3660-E01E-29CD8B98CD54}"/>
              </a:ext>
            </a:extLst>
          </p:cNvPr>
          <p:cNvSpPr/>
          <p:nvPr/>
        </p:nvSpPr>
        <p:spPr>
          <a:xfrm>
            <a:off x="10030687" y="3484259"/>
            <a:ext cx="1752195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Hybrid</a:t>
            </a:r>
            <a:br>
              <a:rPr lang="de-CH" sz="1600" dirty="0"/>
            </a:br>
            <a:r>
              <a:rPr lang="de-CH" sz="1100" dirty="0"/>
              <a:t>RAG/Finetuning</a:t>
            </a:r>
            <a:endParaRPr lang="de-CH" sz="160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3763F29-41C1-5AA3-19D8-73825623F55F}"/>
              </a:ext>
            </a:extLst>
          </p:cNvPr>
          <p:cNvSpPr/>
          <p:nvPr/>
        </p:nvSpPr>
        <p:spPr>
          <a:xfrm>
            <a:off x="6862552" y="4994558"/>
            <a:ext cx="1077244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Graph RAG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454DA32-89E2-4A28-5F7F-DB6B8E51A614}"/>
              </a:ext>
            </a:extLst>
          </p:cNvPr>
          <p:cNvSpPr/>
          <p:nvPr/>
        </p:nvSpPr>
        <p:spPr>
          <a:xfrm>
            <a:off x="8398187" y="4395834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Model Finetuning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36A2543-931D-D4E6-323F-04102B0F86D4}"/>
              </a:ext>
            </a:extLst>
          </p:cNvPr>
          <p:cNvSpPr/>
          <p:nvPr/>
        </p:nvSpPr>
        <p:spPr>
          <a:xfrm>
            <a:off x="8405811" y="2771108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Model </a:t>
            </a:r>
            <a:r>
              <a:rPr lang="de-CH" sz="1600" dirty="0" err="1"/>
              <a:t>Fintuning</a:t>
            </a:r>
            <a:endParaRPr lang="de-CH" sz="16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A596FAC-7EB7-4729-2C5C-91EA581E6DDE}"/>
              </a:ext>
            </a:extLst>
          </p:cNvPr>
          <p:cNvSpPr/>
          <p:nvPr/>
        </p:nvSpPr>
        <p:spPr>
          <a:xfrm>
            <a:off x="5103719" y="4974878"/>
            <a:ext cx="1077244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Graph </a:t>
            </a:r>
            <a:r>
              <a:rPr lang="de-CH" sz="1600" dirty="0" err="1"/>
              <a:t>Merging</a:t>
            </a:r>
            <a:endParaRPr lang="de-CH" sz="1600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5061DF2-D6CD-0F9E-523B-6E2C6D9F7EBB}"/>
              </a:ext>
            </a:extLst>
          </p:cNvPr>
          <p:cNvSpPr/>
          <p:nvPr/>
        </p:nvSpPr>
        <p:spPr>
          <a:xfrm>
            <a:off x="10083132" y="4961670"/>
            <a:ext cx="1752195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Hybrid</a:t>
            </a:r>
            <a:br>
              <a:rPr lang="de-CH" sz="1600" dirty="0"/>
            </a:br>
            <a:r>
              <a:rPr lang="de-CH" sz="1100" dirty="0"/>
              <a:t>Graph RAG/Finetuning</a:t>
            </a:r>
            <a:endParaRPr lang="de-CH" sz="160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C89085C-D2D6-8717-B640-0D0C8B2250AF}"/>
              </a:ext>
            </a:extLst>
          </p:cNvPr>
          <p:cNvSpPr/>
          <p:nvPr/>
        </p:nvSpPr>
        <p:spPr>
          <a:xfrm>
            <a:off x="5103717" y="3517115"/>
            <a:ext cx="1269213" cy="55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 err="1"/>
              <a:t>VectorDB</a:t>
            </a:r>
            <a:r>
              <a:rPr lang="de-CH" sz="1600" dirty="0"/>
              <a:t> </a:t>
            </a:r>
            <a:r>
              <a:rPr lang="de-CH" sz="1600" dirty="0" err="1"/>
              <a:t>Merging</a:t>
            </a:r>
            <a:endParaRPr lang="de-CH" sz="1600" dirty="0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0D1BC64-8B54-2052-3B14-C7CA0E3741E8}"/>
              </a:ext>
            </a:extLst>
          </p:cNvPr>
          <p:cNvCxnSpPr/>
          <p:nvPr/>
        </p:nvCxnSpPr>
        <p:spPr>
          <a:xfrm>
            <a:off x="4797083" y="2260209"/>
            <a:ext cx="51582" cy="391081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F7634B44-5066-A7EE-A7D0-A73CC25EBB8F}"/>
              </a:ext>
            </a:extLst>
          </p:cNvPr>
          <p:cNvCxnSpPr/>
          <p:nvPr/>
        </p:nvCxnSpPr>
        <p:spPr>
          <a:xfrm>
            <a:off x="481065" y="5988148"/>
            <a:ext cx="4336734" cy="37514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A8CE284-F1CE-DB49-E7E4-0D3F42B304F2}"/>
              </a:ext>
            </a:extLst>
          </p:cNvPr>
          <p:cNvCxnSpPr>
            <a:cxnSpLocks/>
          </p:cNvCxnSpPr>
          <p:nvPr/>
        </p:nvCxnSpPr>
        <p:spPr>
          <a:xfrm flipH="1" flipV="1">
            <a:off x="4882284" y="6040795"/>
            <a:ext cx="6396496" cy="45402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A0F4DB72-7F34-2801-3F0C-A28685098A3D}"/>
              </a:ext>
            </a:extLst>
          </p:cNvPr>
          <p:cNvSpPr txBox="1"/>
          <p:nvPr/>
        </p:nvSpPr>
        <p:spPr>
          <a:xfrm>
            <a:off x="1322717" y="5551827"/>
            <a:ext cx="195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Pre</a:t>
            </a:r>
            <a:r>
              <a:rPr lang="de-CH" dirty="0"/>
              <a:t> Processing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3DC2A40-52A9-74ED-03AF-DF62B556BC2B}"/>
              </a:ext>
            </a:extLst>
          </p:cNvPr>
          <p:cNvSpPr txBox="1"/>
          <p:nvPr/>
        </p:nvSpPr>
        <p:spPr>
          <a:xfrm>
            <a:off x="6503021" y="5624872"/>
            <a:ext cx="292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On Demand Processing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5716CD3-CD7E-D1B1-8161-CBCC6BE5C1F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627451" y="3429000"/>
            <a:ext cx="246063" cy="702435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5F7EE18-6945-0E92-D617-F017193CFFE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142727" y="3063045"/>
            <a:ext cx="312460" cy="1068390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8296BB87-5B1C-2EE3-3E2F-892D8CBF7907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3142727" y="3801599"/>
            <a:ext cx="310904" cy="329836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3BC6F1F5-D01B-52FC-ED7E-906AABADDC57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 flipV="1">
            <a:off x="4722844" y="3793780"/>
            <a:ext cx="380873" cy="7819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A4282FA9-A98B-B1C9-426D-7616E7A398FB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9675024" y="3047773"/>
            <a:ext cx="355663" cy="713151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87C58314-0C75-2065-575B-ECD63D6E55EB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 flipV="1">
            <a:off x="6372930" y="3760924"/>
            <a:ext cx="3657757" cy="32856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53173488-FBF0-8CF8-4A6F-BCDDFFF262F6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4724400" y="3047773"/>
            <a:ext cx="3681411" cy="15272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9F5E04E-7B8A-EE68-2393-193A56FD1AFF}"/>
              </a:ext>
            </a:extLst>
          </p:cNvPr>
          <p:cNvGrpSpPr/>
          <p:nvPr/>
        </p:nvGrpSpPr>
        <p:grpSpPr>
          <a:xfrm>
            <a:off x="9953684" y="101750"/>
            <a:ext cx="2161313" cy="791464"/>
            <a:chOff x="10030687" y="324178"/>
            <a:chExt cx="2161313" cy="791464"/>
          </a:xfrm>
        </p:grpSpPr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5C7F6C56-7E8C-FCF2-5E48-E8B23B3A9D9D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687" y="508844"/>
              <a:ext cx="482038" cy="0"/>
            </a:xfrm>
            <a:prstGeom prst="line">
              <a:avLst/>
            </a:prstGeom>
            <a:ln w="3492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CD579155-12B3-BE83-5537-CBE49A9CF66D}"/>
                </a:ext>
              </a:extLst>
            </p:cNvPr>
            <p:cNvCxnSpPr>
              <a:cxnSpLocks/>
            </p:cNvCxnSpPr>
            <p:nvPr/>
          </p:nvCxnSpPr>
          <p:spPr>
            <a:xfrm>
              <a:off x="10030687" y="930976"/>
              <a:ext cx="482038" cy="0"/>
            </a:xfrm>
            <a:prstGeom prst="line">
              <a:avLst/>
            </a:prstGeom>
            <a:ln w="34925">
              <a:solidFill>
                <a:schemeClr val="accent1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0D0B5613-CD88-8340-0404-6D192A56C25E}"/>
                </a:ext>
              </a:extLst>
            </p:cNvPr>
            <p:cNvSpPr txBox="1"/>
            <p:nvPr/>
          </p:nvSpPr>
          <p:spPr>
            <a:xfrm>
              <a:off x="10624868" y="324178"/>
              <a:ext cx="1101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dirty="0"/>
                <a:t>MVP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B8C0906-7F6D-78D1-ACD7-1DEF26B3A030}"/>
                </a:ext>
              </a:extLst>
            </p:cNvPr>
            <p:cNvSpPr txBox="1"/>
            <p:nvPr/>
          </p:nvSpPr>
          <p:spPr>
            <a:xfrm>
              <a:off x="10624867" y="746310"/>
              <a:ext cx="1567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dirty="0"/>
                <a:t>Final Version</a:t>
              </a:r>
            </a:p>
          </p:txBody>
        </p:sp>
      </p:grp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05061DD-6A51-A606-8A43-645D512E60EC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9667400" y="4672499"/>
            <a:ext cx="415732" cy="565836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54FBFB00-65DF-05B0-6764-DF0D70230A3B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1620136" y="4131435"/>
            <a:ext cx="253378" cy="713242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B2E302CD-0352-D9F3-5AEB-737921BFFC54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4766229" y="5251543"/>
            <a:ext cx="337490" cy="0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06859C12-EA53-E96B-AAA9-305490032857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 flipV="1">
            <a:off x="7939796" y="5238335"/>
            <a:ext cx="2143336" cy="32888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E7DAD5CC-E9A4-F479-7931-5E7CB891FA81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>
            <a:off x="6180963" y="5251543"/>
            <a:ext cx="681589" cy="19680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8917870-9BA1-2F31-487F-23B40395972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7939796" y="4672499"/>
            <a:ext cx="458391" cy="598724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90CD49CE-718D-0586-BCE5-4E24145FB8B3}"/>
              </a:ext>
            </a:extLst>
          </p:cNvPr>
          <p:cNvCxnSpPr>
            <a:cxnSpLocks/>
            <a:stCxn id="19" idx="3"/>
            <a:endCxn id="11" idx="1"/>
          </p:cNvCxnSpPr>
          <p:nvPr/>
        </p:nvCxnSpPr>
        <p:spPr>
          <a:xfrm>
            <a:off x="6372930" y="3793780"/>
            <a:ext cx="489622" cy="1477443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9C9F7702-053F-E94C-D202-B121A2AC2A61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142727" y="4131435"/>
            <a:ext cx="354289" cy="1120108"/>
          </a:xfrm>
          <a:prstGeom prst="line">
            <a:avLst/>
          </a:prstGeom>
          <a:ln w="3492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653031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Breitbild</PresentationFormat>
  <Paragraphs>20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SwellVTI</vt:lpstr>
      <vt:lpstr>TBD</vt:lpstr>
      <vt:lpstr>Funktionale Elemente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Allenspach</dc:creator>
  <cp:lastModifiedBy>Marco Allenspach</cp:lastModifiedBy>
  <cp:revision>1</cp:revision>
  <dcterms:created xsi:type="dcterms:W3CDTF">2025-09-14T14:58:45Z</dcterms:created>
  <dcterms:modified xsi:type="dcterms:W3CDTF">2025-09-14T15:28:41Z</dcterms:modified>
</cp:coreProperties>
</file>